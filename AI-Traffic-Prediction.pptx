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8" r:id="rId11"/>
    <p:sldId id="266" r:id="rId12"/>
    <p:sldId id="267" r:id="rId13"/>
    <p:sldId id="279" r:id="rId14"/>
    <p:sldId id="268" r:id="rId15"/>
    <p:sldId id="269" r:id="rId16"/>
    <p:sldId id="280" r:id="rId17"/>
    <p:sldId id="270" r:id="rId18"/>
    <p:sldId id="271" r:id="rId19"/>
    <p:sldId id="273" r:id="rId20"/>
    <p:sldId id="274" r:id="rId21"/>
    <p:sldId id="275" r:id="rId22"/>
    <p:sldId id="276" r:id="rId23"/>
    <p:sldId id="281" r:id="rId24"/>
    <p:sldId id="277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0b9bcd0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50b9bcd0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0b9bcd0fa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50b9bcd0fa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0b9bcd0f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0b9bcd0f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0b9bcd0f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0b9bcd0f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0b9bcd0fa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0b9bcd0fa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0b9bcd0fa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0b9bcd0fa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0b9bcd0fa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0b9bcd0fa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0b9bcd0fa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0b9bcd0fa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0b9bcd0fa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0b9bcd0fa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940B0DF-F5FD-2D3C-72B6-85F059C7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0b9bcd0fa_0_235:notes">
            <a:extLst>
              <a:ext uri="{FF2B5EF4-FFF2-40B4-BE49-F238E27FC236}">
                <a16:creationId xmlns:a16="http://schemas.microsoft.com/office/drawing/2014/main" id="{A2BB89FA-801D-7DC8-3A8F-42B059623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0b9bcd0fa_0_235:notes">
            <a:extLst>
              <a:ext uri="{FF2B5EF4-FFF2-40B4-BE49-F238E27FC236}">
                <a16:creationId xmlns:a16="http://schemas.microsoft.com/office/drawing/2014/main" id="{65C3156F-9792-2411-6721-8693260EE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745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0b9bcd0f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0b9bcd0fa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0b9bcd0f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0b9bcd0f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186DF002-0FDD-9A3D-49CD-7230BAC6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0b9bcd0fa_0_255:notes">
            <a:extLst>
              <a:ext uri="{FF2B5EF4-FFF2-40B4-BE49-F238E27FC236}">
                <a16:creationId xmlns:a16="http://schemas.microsoft.com/office/drawing/2014/main" id="{79E83965-70A8-A406-210A-723ED6367D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0b9bcd0fa_0_255:notes">
            <a:extLst>
              <a:ext uri="{FF2B5EF4-FFF2-40B4-BE49-F238E27FC236}">
                <a16:creationId xmlns:a16="http://schemas.microsoft.com/office/drawing/2014/main" id="{0396C0BF-C219-3810-5449-46DEBCF3F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6578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0b9bcd0fa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0b9bcd0fa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b9bcd0fa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b9bcd0fa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FCAF5977-8E80-FCF3-7672-CA98CDD3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b9bcd0fa_0_266:notes">
            <a:extLst>
              <a:ext uri="{FF2B5EF4-FFF2-40B4-BE49-F238E27FC236}">
                <a16:creationId xmlns:a16="http://schemas.microsoft.com/office/drawing/2014/main" id="{78BA27E8-DCF2-4026-7543-37A11D39A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b9bcd0fa_0_266:notes">
            <a:extLst>
              <a:ext uri="{FF2B5EF4-FFF2-40B4-BE49-F238E27FC236}">
                <a16:creationId xmlns:a16="http://schemas.microsoft.com/office/drawing/2014/main" id="{128B7851-6549-AF32-4DE3-16C8B5447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199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b9bcd0fa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b9bcd0fa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0b9bcd0fa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0b9bcd0fa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93283E6D-FC16-D4BC-3D5F-A8E845BD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b9bcd0fa_0_271:notes">
            <a:extLst>
              <a:ext uri="{FF2B5EF4-FFF2-40B4-BE49-F238E27FC236}">
                <a16:creationId xmlns:a16="http://schemas.microsoft.com/office/drawing/2014/main" id="{2CC4848C-B929-2FD7-9EAB-02895C050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b9bcd0fa_0_271:notes">
            <a:extLst>
              <a:ext uri="{FF2B5EF4-FFF2-40B4-BE49-F238E27FC236}">
                <a16:creationId xmlns:a16="http://schemas.microsoft.com/office/drawing/2014/main" id="{598F44EE-B010-8511-51AD-D86849BDF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3958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C6C326CA-7763-0C45-0CF0-05132DA2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b9bcd0fa_0_271:notes">
            <a:extLst>
              <a:ext uri="{FF2B5EF4-FFF2-40B4-BE49-F238E27FC236}">
                <a16:creationId xmlns:a16="http://schemas.microsoft.com/office/drawing/2014/main" id="{FDCCC2BA-305B-EB48-420E-A9E367CC2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b9bcd0fa_0_271:notes">
            <a:extLst>
              <a:ext uri="{FF2B5EF4-FFF2-40B4-BE49-F238E27FC236}">
                <a16:creationId xmlns:a16="http://schemas.microsoft.com/office/drawing/2014/main" id="{4272B7C9-277E-5EB6-5A92-A51F1C355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845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469E775D-022A-21EC-7ADC-C43A402A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b9bcd0fa_0_271:notes">
            <a:extLst>
              <a:ext uri="{FF2B5EF4-FFF2-40B4-BE49-F238E27FC236}">
                <a16:creationId xmlns:a16="http://schemas.microsoft.com/office/drawing/2014/main" id="{2C993785-0A8F-D1B0-565E-DBAFD2E12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b9bcd0fa_0_271:notes">
            <a:extLst>
              <a:ext uri="{FF2B5EF4-FFF2-40B4-BE49-F238E27FC236}">
                <a16:creationId xmlns:a16="http://schemas.microsoft.com/office/drawing/2014/main" id="{0278B974-F5E2-6A3F-A984-0E6AA6C64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9794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73B3CE25-CECD-700F-68AF-6BFB720E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b9bcd0fa_0_271:notes">
            <a:extLst>
              <a:ext uri="{FF2B5EF4-FFF2-40B4-BE49-F238E27FC236}">
                <a16:creationId xmlns:a16="http://schemas.microsoft.com/office/drawing/2014/main" id="{23AA0135-D380-6B84-D272-9AFA6078D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b9bcd0fa_0_271:notes">
            <a:extLst>
              <a:ext uri="{FF2B5EF4-FFF2-40B4-BE49-F238E27FC236}">
                <a16:creationId xmlns:a16="http://schemas.microsoft.com/office/drawing/2014/main" id="{FFD6F39C-2754-7C08-5F6D-91FB92BBC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13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ookerstudio.google.com/reporting/f7ef7580-3c10-40c1-9b0f-df0d3528b385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-52567" y="1790833"/>
            <a:ext cx="9236724" cy="1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The Port Authority of NY and NJ</a:t>
            </a:r>
            <a:endParaRPr dirty="0"/>
          </a:p>
        </p:txBody>
      </p:sp>
      <p:pic>
        <p:nvPicPr>
          <p:cNvPr id="67" name="Google Shape;67;p15" descr="A city skyline in the distanc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12448" b="16979"/>
          <a:stretch/>
        </p:blipFill>
        <p:spPr>
          <a:xfrm>
            <a:off x="-6205" y="0"/>
            <a:ext cx="9144000" cy="2267407"/>
          </a:xfrm>
          <a:custGeom>
            <a:avLst/>
            <a:gdLst/>
            <a:ahLst/>
            <a:cxnLst/>
            <a:rect l="l" t="t" r="r" b="b"/>
            <a:pathLst>
              <a:path w="12192000" h="3692092" extrusionOk="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49405" y="2814638"/>
            <a:ext cx="8432781" cy="1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Team 8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fr-FR" sz="25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Anthony Philip</a:t>
            </a:r>
            <a:r>
              <a:rPr lang="fr-FR" sz="2500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fr-FR" sz="25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 Denis  //// Pavana Sree </a:t>
            </a:r>
            <a:r>
              <a:rPr lang="fr-FR" sz="25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Prathyusha</a:t>
            </a:r>
            <a:r>
              <a:rPr lang="fr-FR" sz="25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fr-FR" sz="25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Kollu</a:t>
            </a:r>
            <a:endParaRPr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22302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0" y="0"/>
            <a:ext cx="6391800" cy="1714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96900" dist="304800" dir="7140000" sx="90000" sy="90000" algn="t" rotWithShape="0">
              <a:srgbClr val="000000">
                <a:alpha val="1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571352" y="262647"/>
            <a:ext cx="3485100" cy="12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Agenda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436241" y="1977147"/>
            <a:ext cx="3755322" cy="337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1.Company &amp; Goals</a:t>
            </a:r>
            <a:br>
              <a:rPr lang="en" sz="1700" dirty="0"/>
            </a:b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2400" dirty="0">
                <a:solidFill>
                  <a:srgbClr val="323232"/>
                </a:solidFill>
              </a:rPr>
              <a:t>2</a:t>
            </a:r>
            <a:r>
              <a:rPr lang="en" sz="2400" b="0" dirty="0">
                <a:solidFill>
                  <a:srgbClr val="323232"/>
                </a:solidFill>
                <a:latin typeface="Arial"/>
              </a:rPr>
              <a:t>. Models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endParaRPr lang="en" sz="200" b="0" dirty="0">
              <a:solidFill>
                <a:srgbClr val="323232"/>
              </a:solidFill>
              <a:latin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3.Dashboards</a:t>
            </a:r>
            <a:br>
              <a:rPr lang="en" sz="1700" dirty="0"/>
            </a:b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4.Questions</a:t>
            </a:r>
            <a:br>
              <a:rPr lang="en" sz="1700" dirty="0"/>
            </a:b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5.Next Steps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endParaRPr lang="en" sz="1000" dirty="0">
              <a:solidFill>
                <a:srgbClr val="32323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2400" dirty="0">
                <a:solidFill>
                  <a:srgbClr val="323232"/>
                </a:solidFill>
              </a:rPr>
              <a:t>6.Money Time</a:t>
            </a:r>
            <a:endParaRPr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</a:pPr>
            <a:endParaRPr sz="1700" dirty="0"/>
          </a:p>
        </p:txBody>
      </p:sp>
      <p:pic>
        <p:nvPicPr>
          <p:cNvPr id="78" name="Google Shape;78;p16" descr="A bridge with cars on the roa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20835" r="34614"/>
          <a:stretch/>
        </p:blipFill>
        <p:spPr>
          <a:xfrm>
            <a:off x="4572000" y="1"/>
            <a:ext cx="457711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198850" y="223625"/>
            <a:ext cx="59670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003366"/>
                </a:solidFill>
                <a:latin typeface="Arial Black"/>
              </a:rPr>
              <a:t>Company &amp; Goals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457200" y="981307"/>
            <a:ext cx="5633100" cy="36133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	Port Authority of NY &amp; NJ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" b="0" dirty="0">
              <a:solidFill>
                <a:srgbClr val="323232"/>
              </a:solidFill>
              <a:latin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Manages Holland, Lincoln, GWB Upper/Lower, Bayonne, Goethals, Outerbridge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Project Goals</a:t>
            </a:r>
            <a:br>
              <a:rPr lang="en" b="1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Identify factors driving bridge / tunnel usage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Detect &amp; quantify toll violators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b="0" dirty="0">
                <a:solidFill>
                  <a:srgbClr val="323232"/>
                </a:solidFill>
                <a:latin typeface="Arial"/>
              </a:rPr>
              <a:t>Pinpoint busiest periods to improve operations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13" y="345025"/>
            <a:ext cx="21621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9854" y="2355598"/>
            <a:ext cx="3554150" cy="26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403860" y="12146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Predictive models</a:t>
            </a:r>
            <a:endParaRPr dirty="0"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4900" y="101692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		        🎯 Classification Model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Classifies days as High-Risk vs Low-Risk for toll violations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" y="3140975"/>
            <a:ext cx="1911225" cy="197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9419" y="1912385"/>
            <a:ext cx="6072955" cy="3231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2316480" y="-159685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More model</a:t>
            </a:r>
            <a:endParaRPr dirty="0"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121920" y="530800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dirty="0">
                <a:solidFill>
                  <a:srgbClr val="323232"/>
                </a:solidFill>
                <a:latin typeface="Arial"/>
              </a:rPr>
              <a:t>		      🔧 Regression Model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0" dirty="0">
                <a:solidFill>
                  <a:srgbClr val="323232"/>
                </a:solidFill>
                <a:latin typeface="Arial"/>
              </a:rPr>
              <a:t>Predicts how weather and time-of-day affect EZPASSCount (R² ≈ 0.99) </a:t>
            </a:r>
            <a:endParaRPr sz="2000" dirty="0"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40" y="1579397"/>
            <a:ext cx="5440804" cy="307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5804" y="1767840"/>
            <a:ext cx="1685656" cy="288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57200" y="-15300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Last Model</a:t>
            </a:r>
            <a:endParaRPr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0" y="643890"/>
            <a:ext cx="8498287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0" dirty="0">
                <a:solidFill>
                  <a:srgbClr val="323232"/>
                </a:solidFill>
                <a:latin typeface="Arial"/>
              </a:rPr>
              <a:t>			📈 Time-Series Forecasting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0" dirty="0">
                <a:solidFill>
                  <a:srgbClr val="323232"/>
                </a:solidFill>
                <a:latin typeface="Arial"/>
              </a:rPr>
              <a:t>Projects future traffic volumes to anticipate congestion (MAE=833)</a:t>
            </a:r>
            <a:endParaRPr sz="2200" dirty="0"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95" y="1689965"/>
            <a:ext cx="7119797" cy="26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2387" y="1683030"/>
            <a:ext cx="1291425" cy="267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457200" y="-83582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Dashboards Overview</a:t>
            </a:r>
            <a:endParaRPr dirty="0"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0" y="590550"/>
            <a:ext cx="91440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 b="0" dirty="0">
                <a:solidFill>
                  <a:srgbClr val="323232"/>
                </a:solidFill>
                <a:latin typeface="Arial"/>
              </a:rPr>
              <a:t>Usage Drivers : What factors affect traffic usage ? 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 b="0" dirty="0">
                <a:solidFill>
                  <a:srgbClr val="323232"/>
                </a:solidFill>
                <a:latin typeface="Arial"/>
              </a:rPr>
              <a:t>Toll Violations :  Where and when do unpaid tolls occur ?</a:t>
            </a:r>
            <a:endParaRPr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 b="0" dirty="0">
                <a:solidFill>
                  <a:srgbClr val="323232"/>
                </a:solidFill>
                <a:latin typeface="Arial"/>
              </a:rPr>
              <a:t>Peak Traffic: When are the busiest periods and what influences them ?</a:t>
            </a:r>
            <a:endParaRPr sz="2000" dirty="0"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960" y="2014850"/>
            <a:ext cx="3636200" cy="27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502" y="1930582"/>
            <a:ext cx="2901957" cy="27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58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rgbClr val="003366"/>
                </a:solidFill>
                <a:latin typeface="Arial Black"/>
              </a:rPr>
              <a:t>Q1 : What factors Affect Traffic Usage ? </a:t>
            </a:r>
            <a:endParaRPr sz="3000" dirty="0"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0" y="451050"/>
            <a:ext cx="8229600" cy="44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100" b="0" i="1" u="sng" dirty="0">
                <a:solidFill>
                  <a:srgbClr val="323232"/>
                </a:solidFill>
                <a:latin typeface="Arial"/>
              </a:rPr>
              <a:t>Snow impacts:</a:t>
            </a:r>
            <a:br>
              <a:rPr lang="en" sz="2100" b="1" dirty="0">
                <a:solidFill>
                  <a:schemeClr val="dk1"/>
                </a:solidFill>
              </a:rPr>
            </a:br>
            <a:r>
              <a:rPr lang="en" sz="2100" b="0" dirty="0">
                <a:solidFill>
                  <a:srgbClr val="323232"/>
                </a:solidFill>
                <a:latin typeface="Arial"/>
              </a:rPr>
              <a:t>On Snow Days, traffic volume drops by approximately 25% compared to clear days.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0" i="1" u="sng" dirty="0">
                <a:solidFill>
                  <a:srgbClr val="323232"/>
                </a:solidFill>
                <a:latin typeface="Arial"/>
              </a:rPr>
              <a:t>Time of Day:</a:t>
            </a:r>
            <a:br>
              <a:rPr lang="en" sz="2100" b="1" dirty="0">
                <a:solidFill>
                  <a:schemeClr val="dk1"/>
                </a:solidFill>
              </a:rPr>
            </a:br>
            <a:r>
              <a:rPr lang="en" sz="2100" b="0" dirty="0">
                <a:solidFill>
                  <a:srgbClr val="323232"/>
                </a:solidFill>
                <a:latin typeface="Arial"/>
              </a:rPr>
              <a:t>08:00</a:t>
            </a:r>
            <a:r>
              <a:rPr lang="en" sz="2100" dirty="0">
                <a:solidFill>
                  <a:srgbClr val="323232"/>
                </a:solidFill>
              </a:rPr>
              <a:t>am</a:t>
            </a:r>
            <a:r>
              <a:rPr lang="en" sz="2100" b="0" dirty="0">
                <a:solidFill>
                  <a:srgbClr val="323232"/>
                </a:solidFill>
                <a:latin typeface="Arial"/>
              </a:rPr>
              <a:t> –04:00</a:t>
            </a:r>
            <a:r>
              <a:rPr lang="en" sz="2100" dirty="0">
                <a:solidFill>
                  <a:srgbClr val="323232"/>
                </a:solidFill>
              </a:rPr>
              <a:t>pm</a:t>
            </a:r>
            <a:r>
              <a:rPr lang="en" sz="2100" b="0" dirty="0">
                <a:solidFill>
                  <a:srgbClr val="323232"/>
                </a:solidFill>
                <a:latin typeface="Arial"/>
              </a:rPr>
              <a:t> block handles 43% of total daily traffic volume</a:t>
            </a:r>
            <a:endParaRPr sz="2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0" i="1" u="sng" dirty="0">
                <a:solidFill>
                  <a:srgbClr val="323232"/>
                </a:solidFill>
                <a:latin typeface="Arial"/>
              </a:rPr>
              <a:t>Weather correlations:</a:t>
            </a:r>
            <a:br>
              <a:rPr lang="en" sz="2100" b="1" dirty="0">
                <a:solidFill>
                  <a:schemeClr val="dk1"/>
                </a:solidFill>
              </a:rPr>
            </a:br>
            <a:r>
              <a:rPr lang="en" sz="21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2100" dirty="0">
                <a:solidFill>
                  <a:srgbClr val="323232"/>
                </a:solidFill>
              </a:rPr>
              <a:t>P</a:t>
            </a:r>
            <a:r>
              <a:rPr lang="en" sz="2100" b="0" dirty="0">
                <a:solidFill>
                  <a:srgbClr val="323232"/>
                </a:solidFill>
                <a:latin typeface="Arial"/>
              </a:rPr>
              <a:t>ositive correlation with temperature (r = +0.07)</a:t>
            </a:r>
            <a:br>
              <a:rPr lang="en" sz="2100" dirty="0">
                <a:solidFill>
                  <a:schemeClr val="dk1"/>
                </a:solidFill>
              </a:rPr>
            </a:br>
            <a:r>
              <a:rPr lang="en" sz="21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2100" dirty="0">
                <a:solidFill>
                  <a:srgbClr val="323232"/>
                </a:solidFill>
              </a:rPr>
              <a:t>N</a:t>
            </a:r>
            <a:r>
              <a:rPr lang="en" sz="2100" b="0" dirty="0">
                <a:solidFill>
                  <a:srgbClr val="323232"/>
                </a:solidFill>
                <a:latin typeface="Arial"/>
              </a:rPr>
              <a:t>egative correlation with precipitation and snow (r ≈ –0.03 to –0.07)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1261650"/>
            <a:ext cx="5659575" cy="17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4120" y="2042159"/>
            <a:ext cx="2592705" cy="2082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1810" y="4258650"/>
            <a:ext cx="2209800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457200" y="-144542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Q1 : Recommendations</a:t>
            </a:r>
            <a:endParaRPr dirty="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0" y="594360"/>
            <a:ext cx="8686800" cy="40002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600" b="0" dirty="0">
              <a:solidFill>
                <a:srgbClr val="323232"/>
              </a:solidFill>
              <a:latin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600" dirty="0">
              <a:solidFill>
                <a:srgbClr val="323232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- Boost Snow Day Readiness:</a:t>
            </a:r>
            <a:br>
              <a:rPr lang="en" sz="1600" b="1" dirty="0">
                <a:solidFill>
                  <a:schemeClr val="dk1"/>
                </a:solidFill>
              </a:rPr>
            </a:br>
            <a:r>
              <a:rPr lang="en" sz="1600" b="0" dirty="0">
                <a:solidFill>
                  <a:srgbClr val="323232"/>
                </a:solidFill>
                <a:latin typeface="Arial"/>
              </a:rPr>
              <a:t>Port Authority 2023 Capital Plan allocates $725M to upgrade anti-icing systems and de-icing spray bars at key facilities.</a:t>
            </a:r>
            <a:br>
              <a:rPr lang="en" sz="1600" dirty="0">
                <a:solidFill>
                  <a:schemeClr val="dk1"/>
                </a:solidFill>
              </a:rPr>
            </a:br>
            <a:endParaRPr lang="en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- Prioritize 8 AM– 4 PM Staffing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- Weather-Responsive Traffic Management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3F702483-D5D2-FE75-BFF4-B2E1470A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>
            <a:extLst>
              <a:ext uri="{FF2B5EF4-FFF2-40B4-BE49-F238E27FC236}">
                <a16:creationId xmlns:a16="http://schemas.microsoft.com/office/drawing/2014/main" id="{47557C71-1952-79BD-F600-967E4310D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44542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Q1 : Recommendations</a:t>
            </a:r>
            <a:endParaRPr dirty="0"/>
          </a:p>
        </p:txBody>
      </p:sp>
      <p:sp>
        <p:nvSpPr>
          <p:cNvPr id="134" name="Google Shape;134;p23">
            <a:extLst>
              <a:ext uri="{FF2B5EF4-FFF2-40B4-BE49-F238E27FC236}">
                <a16:creationId xmlns:a16="http://schemas.microsoft.com/office/drawing/2014/main" id="{F69FB6A7-23D5-8F8F-B270-1FB1920C5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4360"/>
            <a:ext cx="8686800" cy="40002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Boost Snow Day Readiness:</a:t>
            </a:r>
            <a:br>
              <a:rPr lang="en" sz="1600" b="1" dirty="0">
                <a:solidFill>
                  <a:schemeClr val="dk1"/>
                </a:solidFill>
              </a:rPr>
            </a:br>
            <a:r>
              <a:rPr lang="en" sz="1600" b="0" dirty="0">
                <a:solidFill>
                  <a:srgbClr val="323232"/>
                </a:solidFill>
                <a:latin typeface="Arial"/>
              </a:rPr>
              <a:t>Port Authority 2023 Capital Plan allocates $725M to upgrade anti-icing systems and de-icing spray bars at key facilities.</a:t>
            </a:r>
            <a:br>
              <a:rPr lang="en" sz="1600" dirty="0">
                <a:solidFill>
                  <a:schemeClr val="dk1"/>
                </a:solidFill>
              </a:rPr>
            </a:br>
            <a:endParaRPr lang="en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 → </a:t>
            </a:r>
            <a:r>
              <a:rPr lang="en" sz="1600" b="1" i="1" dirty="0">
                <a:solidFill>
                  <a:srgbClr val="323232"/>
                </a:solidFill>
                <a:latin typeface="Arial"/>
              </a:rPr>
              <a:t>Action: Proactively deploy de-icing and lane-treatment teams 4+ hours before forecasted snow events.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Prioritize 8 AM– 4 PM Staffing:</a:t>
            </a:r>
            <a:br>
              <a:rPr lang="en" sz="1600" b="1" dirty="0">
                <a:solidFill>
                  <a:schemeClr val="dk1"/>
                </a:solidFill>
              </a:rPr>
            </a:br>
            <a:r>
              <a:rPr lang="en" sz="1600" b="0" dirty="0">
                <a:solidFill>
                  <a:srgbClr val="323232"/>
                </a:solidFill>
                <a:latin typeface="Arial"/>
              </a:rPr>
              <a:t> → </a:t>
            </a:r>
            <a:r>
              <a:rPr lang="en" sz="1600" b="1" i="1" dirty="0">
                <a:solidFill>
                  <a:srgbClr val="323232"/>
                </a:solidFill>
                <a:latin typeface="Arial"/>
              </a:rPr>
              <a:t>Consistent with Port Authority’s goal to “optimize peak-hour throughput” noted in Annual Report 2023.</a:t>
            </a:r>
            <a:br>
              <a:rPr lang="en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dirty="0">
                <a:solidFill>
                  <a:srgbClr val="323232"/>
                </a:solidFill>
                <a:latin typeface="Arial"/>
              </a:rPr>
              <a:t>Weather-Responsive Traffic Management:</a:t>
            </a:r>
            <a:br>
              <a:rPr lang="en" sz="1600" b="1" dirty="0">
                <a:solidFill>
                  <a:schemeClr val="dk1"/>
                </a:solidFill>
              </a:rPr>
            </a:br>
            <a:r>
              <a:rPr lang="en" sz="1600" b="0" dirty="0">
                <a:solidFill>
                  <a:srgbClr val="323232"/>
                </a:solidFill>
                <a:latin typeface="Arial"/>
              </a:rPr>
              <a:t> → </a:t>
            </a:r>
            <a:r>
              <a:rPr lang="en" sz="1600" b="1" i="1" dirty="0">
                <a:solidFill>
                  <a:srgbClr val="323232"/>
                </a:solidFill>
                <a:latin typeface="Arial"/>
              </a:rPr>
              <a:t>Apply lessons from NYC DOT winter operations (expand real-time weather monitoring, dynamic alerts).</a:t>
            </a:r>
            <a:endParaRPr sz="16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7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4350" y="190500"/>
            <a:ext cx="8957250" cy="58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003366"/>
                </a:solidFill>
                <a:latin typeface="Arial Black"/>
              </a:rPr>
              <a:t>Q2 : Where and When Do Toll Violations Occur ?</a:t>
            </a:r>
            <a:endParaRPr sz="2600" dirty="0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1"/>
          </p:nvPr>
        </p:nvSpPr>
        <p:spPr>
          <a:xfrm>
            <a:off x="0" y="600950"/>
            <a:ext cx="9144000" cy="454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0" i="1" u="sng" dirty="0">
                <a:solidFill>
                  <a:srgbClr val="323232"/>
                </a:solidFill>
                <a:latin typeface="Arial"/>
              </a:rPr>
              <a:t>Highest Violators: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b="0" dirty="0">
                <a:solidFill>
                  <a:srgbClr val="323232"/>
                </a:solidFill>
                <a:latin typeface="Arial"/>
              </a:rPr>
              <a:t> → GWB Lower Span shows the highest total violation counts (~1.2 million violations/year).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0" i="1" u="sng" dirty="0">
                <a:solidFill>
                  <a:srgbClr val="323232"/>
                </a:solidFill>
                <a:latin typeface="Arial"/>
              </a:rPr>
              <a:t>Violation Trends Over Time: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b="0" dirty="0">
                <a:solidFill>
                  <a:srgbClr val="323232"/>
                </a:solidFill>
                <a:latin typeface="Arial"/>
              </a:rPr>
              <a:t> → Sharp spikes in violations on Weekends. (Friday, Saturday, Sunday).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0" i="1" u="sng" dirty="0">
                <a:solidFill>
                  <a:srgbClr val="323232"/>
                </a:solidFill>
                <a:latin typeface="Arial"/>
              </a:rPr>
              <a:t>Violation Timing Patterns: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b="0" dirty="0">
                <a:solidFill>
                  <a:srgbClr val="323232"/>
                </a:solidFill>
                <a:latin typeface="Arial"/>
              </a:rPr>
              <a:t> → Peak violations typically occur during </a:t>
            </a:r>
            <a:r>
              <a:rPr lang="en" sz="1100" dirty="0">
                <a:solidFill>
                  <a:srgbClr val="323232"/>
                </a:solidFill>
              </a:rPr>
              <a:t>4</a:t>
            </a:r>
            <a:r>
              <a:rPr lang="en" sz="1100" b="0" dirty="0">
                <a:solidFill>
                  <a:srgbClr val="323232"/>
                </a:solidFill>
                <a:latin typeface="Arial"/>
              </a:rPr>
              <a:t>:00pm–</a:t>
            </a:r>
            <a:r>
              <a:rPr lang="en" sz="1100" dirty="0">
                <a:solidFill>
                  <a:srgbClr val="323232"/>
                </a:solidFill>
              </a:rPr>
              <a:t>00</a:t>
            </a:r>
            <a:r>
              <a:rPr lang="en" sz="1100" b="0" dirty="0">
                <a:solidFill>
                  <a:srgbClr val="323232"/>
                </a:solidFill>
                <a:latin typeface="Arial"/>
              </a:rPr>
              <a:t>:00AM (afternoon–evening block).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950" y="663344"/>
            <a:ext cx="31190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250" y="2897438"/>
            <a:ext cx="2961700" cy="22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701" y="2783137"/>
            <a:ext cx="5255259" cy="204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003366"/>
                </a:solidFill>
                <a:latin typeface="Arial Black"/>
              </a:rPr>
              <a:t>Q2 : Recommendations</a:t>
            </a:r>
            <a:endParaRPr sz="3600" dirty="0"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60960" y="678180"/>
            <a:ext cx="8625840" cy="43891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Targeted Enforcement at High-Risk Sites:</a:t>
            </a:r>
            <a:br>
              <a:rPr lang="en" sz="1100" dirty="0">
                <a:solidFill>
                  <a:schemeClr val="dk1"/>
                </a:solidFill>
              </a:rPr>
            </a:br>
            <a:endParaRPr lang="en" sz="1100" dirty="0">
              <a:solidFill>
                <a:schemeClr val="dk1"/>
              </a:solidFill>
            </a:endParaRPr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endParaRPr sz="1100" dirty="0">
              <a:solidFill>
                <a:schemeClr val="dk1"/>
              </a:solidFill>
            </a:endParaRPr>
          </a:p>
          <a:p>
            <a:pPr marL="342900"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Install Automated License Plate Recognition (ALPR) Systems: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400" b="1" i="1" dirty="0">
                <a:solidFill>
                  <a:srgbClr val="323232"/>
                </a:solidFill>
                <a:latin typeface="Arial"/>
              </a:rPr>
              <a:t>ALPRs reduced toll violations by 47% in pilot programs.</a:t>
            </a:r>
            <a:r>
              <a:rPr lang="en" sz="1100" b="1" i="1" dirty="0">
                <a:solidFill>
                  <a:schemeClr val="dk1"/>
                </a:solidFill>
                <a:latin typeface="Arial"/>
              </a:rPr>
              <a:t> </a:t>
            </a:r>
            <a:endParaRPr lang="en" sz="11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400" b="1" i="1" dirty="0">
                <a:solidFill>
                  <a:srgbClr val="323232"/>
                </a:solidFill>
                <a:latin typeface="Arial"/>
              </a:rPr>
              <a:t>Recommended at GWB first.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342900" lvl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Dynamic Fining Strategy: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I</a:t>
            </a:r>
            <a:r>
              <a:rPr lang="en" sz="2400" b="1" i="1" dirty="0">
                <a:solidFill>
                  <a:srgbClr val="323232"/>
                </a:solidFill>
                <a:latin typeface="Arial"/>
              </a:rPr>
              <a:t>mplement escalating fines (e.g., 5× fine after 30 days) to encourage faster payment compliance, similar to practices in Maryland and Australia (success rates above 90%).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- Peak Violation Alerts for Field Teams: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i="1" dirty="0">
                <a:solidFill>
                  <a:srgbClr val="323232"/>
                </a:solidFill>
                <a:latin typeface="Arial"/>
              </a:rPr>
              <a:t>Set up automatic internal alerts when violation volumes exceed daily thresholds.</a:t>
            </a:r>
            <a:endParaRPr sz="11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D4A7B543-FF9D-BC02-B362-BD332415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>
            <a:extLst>
              <a:ext uri="{FF2B5EF4-FFF2-40B4-BE49-F238E27FC236}">
                <a16:creationId xmlns:a16="http://schemas.microsoft.com/office/drawing/2014/main" id="{CC3F4802-3FB4-F8F6-3B60-CB917D225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rgbClr val="003366"/>
                </a:solidFill>
                <a:latin typeface="Arial Black"/>
              </a:rPr>
              <a:t>Q2 : Recommendations</a:t>
            </a:r>
            <a:endParaRPr sz="3600" dirty="0"/>
          </a:p>
        </p:txBody>
      </p:sp>
      <p:sp>
        <p:nvSpPr>
          <p:cNvPr id="149" name="Google Shape;149;p25">
            <a:extLst>
              <a:ext uri="{FF2B5EF4-FFF2-40B4-BE49-F238E27FC236}">
                <a16:creationId xmlns:a16="http://schemas.microsoft.com/office/drawing/2014/main" id="{C3BC5FA0-355F-0C79-9395-C6DAD159F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" y="678180"/>
            <a:ext cx="8625840" cy="438912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Targeted Enforcement at High-Risk Sites: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2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2400" b="1" i="1" dirty="0">
                <a:solidFill>
                  <a:srgbClr val="323232"/>
                </a:solidFill>
                <a:latin typeface="Arial"/>
              </a:rPr>
              <a:t>→ Prioritize GWB Lower Span, Holland Tunnel, and Lincoln Tunnel for enhanced monitoring during peak violation times (Weekends).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Install Automated License Plate Recognition (ALPR) Systems: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2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2400" b="1" i="1" dirty="0">
                <a:solidFill>
                  <a:srgbClr val="323232"/>
                </a:solidFill>
                <a:latin typeface="Arial"/>
              </a:rPr>
              <a:t>→ ALPRs reduced toll violations by 47% in pilot programs.</a:t>
            </a:r>
            <a:br>
              <a:rPr lang="en" sz="1100" b="1" i="1" dirty="0">
                <a:solidFill>
                  <a:schemeClr val="dk1"/>
                </a:solidFill>
              </a:rPr>
            </a:br>
            <a:r>
              <a:rPr lang="en" sz="2400" b="1" i="1" dirty="0">
                <a:solidFill>
                  <a:srgbClr val="323232"/>
                </a:solidFill>
                <a:latin typeface="Arial"/>
              </a:rPr>
              <a:t> → Recommended at GWB first.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Dynamic Fining Strategy: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2400" b="1" i="1" dirty="0">
                <a:solidFill>
                  <a:srgbClr val="323232"/>
                </a:solidFill>
                <a:latin typeface="Arial"/>
              </a:rPr>
              <a:t> → Implement escalating fines (e.g., 5× fine after 30 days) to encourage faster payment compliance, similar to practices in Maryland and Australia (success rates above 90%).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dirty="0">
                <a:solidFill>
                  <a:srgbClr val="323232"/>
                </a:solidFill>
                <a:latin typeface="Arial"/>
              </a:rPr>
              <a:t>Peak Violation Alerts for Field Teams: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2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2400" b="1" i="1" dirty="0">
                <a:solidFill>
                  <a:srgbClr val="323232"/>
                </a:solidFill>
                <a:latin typeface="Arial"/>
              </a:rPr>
              <a:t>→ Set up automatic internal alerts when violation volumes exceed daily thresholds.</a:t>
            </a:r>
            <a:endParaRPr sz="11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9435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0" y="208156"/>
            <a:ext cx="9143999" cy="51693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solidFill>
                  <a:srgbClr val="003366"/>
                </a:solidFill>
                <a:latin typeface="Arial Black"/>
              </a:rPr>
              <a:t>Q3 : When are the busiest periods and what influences them ? :</a:t>
            </a:r>
            <a:endParaRPr sz="25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6EB0AA-48D3-D8F1-3060-5A4730E34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02831"/>
            <a:ext cx="8615276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Volume </a:t>
            </a:r>
            <a:r>
              <a:rPr kumimoji="0" lang="fr-FR" altLang="fr-FR" sz="140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July and August (~10–12%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Effects</a:t>
            </a: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(TMAX)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correlate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volumes (visible cloud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upward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trend).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Precipitation</a:t>
            </a: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Effects</a:t>
            </a: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On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(PRCP &gt; 1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inch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volume drops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</a:t>
            </a:r>
            <a:endParaRPr kumimoji="0" lang="fr-FR" altLang="fr-F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4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 Dips:</a:t>
            </a:r>
            <a:b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Holiday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Christmas, New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show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dips in the time </a:t>
            </a:r>
            <a:r>
              <a:rPr kumimoji="0" lang="fr-FR" altLang="fr-F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kumimoji="0" lang="fr-FR" altLang="fr-F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73CF2-D4D4-00FF-DB87-90379978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2611"/>
            <a:ext cx="4460488" cy="19508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A3B60C-AB9E-66C8-EE89-5B8E43D6F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513" y="2989007"/>
            <a:ext cx="4460487" cy="21544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201168" y="-18074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Q3 : Recommendations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ADB831-5166-BC00-F252-1C94545E0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09756"/>
            <a:ext cx="91440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Staffing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Adjustments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staffing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incident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June to August.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Traffic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real-time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issue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 Traffic Monitoring: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major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shifts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sharply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fr-FR" altLang="fr-FR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0B89D5-F312-52A5-CF05-921778493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334" y="2989006"/>
            <a:ext cx="3396181" cy="21544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D96D7B97-0ED2-0C0E-B461-B02C877C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>
            <a:extLst>
              <a:ext uri="{FF2B5EF4-FFF2-40B4-BE49-F238E27FC236}">
                <a16:creationId xmlns:a16="http://schemas.microsoft.com/office/drawing/2014/main" id="{CEBE7CE8-39EC-13D9-D383-3548A4FCE0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168" y="-18074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Q3 : Recommendations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0233A0-C735-CB1F-2EA2-A3A9B4218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63508"/>
            <a:ext cx="9144000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Staffing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Adjustments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staffing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incident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June to August.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Traffic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real-time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issue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 Traffic Monitoring: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alternate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major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holidays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shifts </a:t>
            </a:r>
            <a:r>
              <a:rPr kumimoji="0" lang="fr-FR" altLang="fr-FR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sharply</a:t>
            </a:r>
            <a:r>
              <a:rPr kumimoji="0" lang="fr-FR" altLang="fr-FR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fr-FR" altLang="fr-FR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 in </a:t>
            </a:r>
            <a:r>
              <a:rPr kumimoji="0" lang="fr-FR" altLang="fr-FR" sz="15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</a:t>
            </a:r>
            <a: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-Responsive Infrastructure:</a:t>
            </a:r>
            <a:br>
              <a:rPr kumimoji="0" lang="fr-FR" altLang="fr-FR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</a:t>
            </a:r>
            <a:r>
              <a:rPr kumimoji="0" lang="fr-FR" altLang="fr-FR" sz="15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5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signage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" sz="1500" b="1" i="1" dirty="0">
                <a:solidFill>
                  <a:srgbClr val="323232"/>
                </a:solidFill>
                <a:latin typeface="Arial"/>
              </a:rPr>
              <a:t>expand real-time weather monitoring, dynamic alerts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5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fr-FR" altLang="fr-FR" sz="15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</a:t>
            </a:r>
            <a:r>
              <a:rPr kumimoji="0" lang="fr-FR" altLang="fr-FR" sz="15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73795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457200" y="-18406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What is next ? </a:t>
            </a:r>
            <a:endParaRPr dirty="0"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0" y="848600"/>
            <a:ext cx="8686800" cy="429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solidFill>
                  <a:srgbClr val="323232"/>
                </a:solidFill>
                <a:latin typeface="Arial"/>
              </a:rPr>
              <a:t>Enhance Winter Operations: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400" b="1" dirty="0">
                <a:solidFill>
                  <a:srgbClr val="323232"/>
                </a:solidFill>
                <a:latin typeface="Arial"/>
              </a:rPr>
              <a:t> → Expand early de-icing deployment on forecasted snow days to reduce 25% traffic drops.</a:t>
            </a:r>
            <a:br>
              <a:rPr lang="en" sz="1400" b="1" dirty="0">
                <a:solidFill>
                  <a:schemeClr val="dk1"/>
                </a:solidFill>
              </a:rPr>
            </a:b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solidFill>
                  <a:srgbClr val="323232"/>
                </a:solidFill>
                <a:latin typeface="Arial"/>
              </a:rPr>
              <a:t>Prioritize Peak Hour Staffing: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1400" b="1" dirty="0">
                <a:solidFill>
                  <a:srgbClr val="323232"/>
                </a:solidFill>
                <a:latin typeface="Arial"/>
              </a:rPr>
              <a:t>→ Allocate more personnel to the 08:00AM–04:00PM peak block to handle 43% of daily volume.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solidFill>
                  <a:srgbClr val="323232"/>
                </a:solidFill>
                <a:latin typeface="Arial"/>
              </a:rPr>
              <a:t>Install Automated Toll Enforcement: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1400" b="1" dirty="0">
                <a:solidFill>
                  <a:srgbClr val="323232"/>
                </a:solidFill>
                <a:latin typeface="Arial"/>
              </a:rPr>
              <a:t>→ Use ALPR to cut unpaid tolls by 40–50%, replicating national best practices.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solidFill>
                  <a:srgbClr val="323232"/>
                </a:solidFill>
                <a:latin typeface="Arial"/>
              </a:rPr>
              <a:t>Implement Dynamic Fine Escalation: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1400" b="1" dirty="0">
                <a:solidFill>
                  <a:srgbClr val="323232"/>
                </a:solidFill>
                <a:latin typeface="Arial"/>
              </a:rPr>
              <a:t>→ Recover up to 90% of unpaid tolls by increasing fines over time for late payers.</a:t>
            </a:r>
            <a:br>
              <a:rPr lang="en" sz="1400" dirty="0">
                <a:solidFill>
                  <a:schemeClr val="dk1"/>
                </a:solidFill>
              </a:rPr>
            </a:b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dirty="0">
                <a:solidFill>
                  <a:srgbClr val="323232"/>
                </a:solidFill>
                <a:latin typeface="Arial"/>
              </a:rPr>
              <a:t>Deploy Real-Time Traffic &amp; Violation Alerts:</a:t>
            </a:r>
            <a:br>
              <a:rPr lang="en" sz="1400" b="1" dirty="0">
                <a:solidFill>
                  <a:schemeClr val="dk1"/>
                </a:solidFill>
              </a:rPr>
            </a:br>
            <a:r>
              <a:rPr lang="en" sz="1400" b="0" dirty="0">
                <a:solidFill>
                  <a:srgbClr val="323232"/>
                </a:solidFill>
                <a:latin typeface="Arial"/>
              </a:rPr>
              <a:t> </a:t>
            </a:r>
            <a:r>
              <a:rPr lang="en" sz="1400" b="1" dirty="0">
                <a:solidFill>
                  <a:srgbClr val="323232"/>
                </a:solidFill>
                <a:latin typeface="Arial"/>
              </a:rPr>
              <a:t>→ Create automatic alerts for field teams based on violation spikes (especially Friday–Saturday- Sundays  evenings).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457200" y="205961"/>
            <a:ext cx="8229600" cy="4262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   Data + Action </a:t>
            </a:r>
            <a:br>
              <a:rPr lang="en" sz="4000" b="1" dirty="0">
                <a:solidFill>
                  <a:srgbClr val="003366"/>
                </a:solidFill>
                <a:latin typeface="Arial Black"/>
              </a:rPr>
            </a:br>
            <a:r>
              <a:rPr lang="en" sz="4000" b="1" dirty="0">
                <a:solidFill>
                  <a:srgbClr val="003366"/>
                </a:solidFill>
                <a:latin typeface="Arial Black"/>
              </a:rPr>
              <a:t>= </a:t>
            </a:r>
            <a:br>
              <a:rPr lang="en" sz="4000" b="1" dirty="0">
                <a:solidFill>
                  <a:srgbClr val="003366"/>
                </a:solidFill>
                <a:latin typeface="Arial Black"/>
              </a:rPr>
            </a:br>
            <a:r>
              <a:rPr lang="en" sz="4000" b="1" dirty="0">
                <a:solidFill>
                  <a:srgbClr val="003366"/>
                </a:solidFill>
                <a:latin typeface="Arial Black"/>
              </a:rPr>
              <a:t>Safer Roads, Faster Flow, and Higher Revenue.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EC9A9B45-8C6D-124C-B78E-F1AF2577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D25C9D83-71F4-925F-1C65-E2213DD88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8406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MONEY TIME </a:t>
            </a:r>
            <a:endParaRPr dirty="0"/>
          </a:p>
        </p:txBody>
      </p:sp>
      <p:sp>
        <p:nvSpPr>
          <p:cNvPr id="167" name="Google Shape;167;p28">
            <a:extLst>
              <a:ext uri="{FF2B5EF4-FFF2-40B4-BE49-F238E27FC236}">
                <a16:creationId xmlns:a16="http://schemas.microsoft.com/office/drawing/2014/main" id="{E9E5001E-A53C-FA88-A6E4-69735A185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2568"/>
            <a:ext cx="8686800" cy="7058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WINTER Operations : 25% </a:t>
            </a:r>
            <a:r>
              <a:rPr lang="fr-FR" dirty="0" err="1"/>
              <a:t>reduce</a:t>
            </a:r>
            <a:r>
              <a:rPr lang="fr-FR" dirty="0"/>
              <a:t> of </a:t>
            </a:r>
            <a:r>
              <a:rPr lang="fr-FR" dirty="0" err="1"/>
              <a:t>traffics</a:t>
            </a:r>
            <a:r>
              <a:rPr lang="fr-FR" dirty="0"/>
              <a:t> drops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60D38E-A800-D69F-613F-7BADB4A34282}"/>
              </a:ext>
            </a:extLst>
          </p:cNvPr>
          <p:cNvSpPr txBox="1"/>
          <p:nvPr/>
        </p:nvSpPr>
        <p:spPr>
          <a:xfrm>
            <a:off x="0" y="1142191"/>
            <a:ext cx="2898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Cost</a:t>
            </a:r>
            <a:r>
              <a:rPr lang="fr-FR" dirty="0"/>
              <a:t> EZ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tolls</a:t>
            </a:r>
            <a:r>
              <a:rPr lang="fr-FR" dirty="0"/>
              <a:t> : 15$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1ACBD-9EC6-E310-6068-7A7D56D98B2C}"/>
              </a:ext>
            </a:extLst>
          </p:cNvPr>
          <p:cNvSpPr txBox="1"/>
          <p:nvPr/>
        </p:nvSpPr>
        <p:spPr>
          <a:xfrm>
            <a:off x="100584" y="1517904"/>
            <a:ext cx="2798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Clear Day :              250,000/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E2595-B79D-E29B-8222-B1D0EEC9F9E3}"/>
              </a:ext>
            </a:extLst>
          </p:cNvPr>
          <p:cNvSpPr txBox="1"/>
          <p:nvPr/>
        </p:nvSpPr>
        <p:spPr>
          <a:xfrm>
            <a:off x="100584" y="1893617"/>
            <a:ext cx="2798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Snow Day :             190,000/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A1C00-C602-7791-5A04-2D964007BA18}"/>
              </a:ext>
            </a:extLst>
          </p:cNvPr>
          <p:cNvSpPr txBox="1"/>
          <p:nvPr/>
        </p:nvSpPr>
        <p:spPr>
          <a:xfrm>
            <a:off x="115824" y="2191512"/>
            <a:ext cx="2798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Difference</a:t>
            </a:r>
            <a:r>
              <a:rPr lang="fr-FR" dirty="0"/>
              <a:t> :               60,000/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D9DA3E-9DB8-8476-7A8B-F09D20437773}"/>
              </a:ext>
            </a:extLst>
          </p:cNvPr>
          <p:cNvSpPr txBox="1"/>
          <p:nvPr/>
        </p:nvSpPr>
        <p:spPr>
          <a:xfrm>
            <a:off x="115824" y="2546639"/>
            <a:ext cx="2798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25% :                       15,000/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AA496-917B-D83B-E358-2E586D5AF2BF}"/>
              </a:ext>
            </a:extLst>
          </p:cNvPr>
          <p:cNvSpPr txBox="1"/>
          <p:nvPr/>
        </p:nvSpPr>
        <p:spPr>
          <a:xfrm>
            <a:off x="1449324" y="3010000"/>
            <a:ext cx="643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15,000 x 33 </a:t>
            </a:r>
            <a:r>
              <a:rPr lang="fr-FR" sz="2400" dirty="0" err="1"/>
              <a:t>days</a:t>
            </a:r>
            <a:r>
              <a:rPr lang="fr-FR" sz="2400" dirty="0"/>
              <a:t> of </a:t>
            </a:r>
            <a:r>
              <a:rPr lang="fr-FR" sz="2400" dirty="0" err="1"/>
              <a:t>snow</a:t>
            </a:r>
            <a:r>
              <a:rPr lang="fr-FR" sz="2400" dirty="0"/>
              <a:t> a </a:t>
            </a:r>
            <a:r>
              <a:rPr lang="fr-FR" sz="2400" dirty="0" err="1"/>
              <a:t>year</a:t>
            </a:r>
            <a:r>
              <a:rPr lang="fr-FR" sz="2400" dirty="0"/>
              <a:t> = 495,000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5E509-EAEB-E699-BE58-AA94AEEEDA9A}"/>
              </a:ext>
            </a:extLst>
          </p:cNvPr>
          <p:cNvSpPr txBox="1"/>
          <p:nvPr/>
        </p:nvSpPr>
        <p:spPr>
          <a:xfrm>
            <a:off x="3296412" y="3520711"/>
            <a:ext cx="643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495,000 x 15$ = ???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B1D70-52DF-B7BE-61E8-F9CA9CB789AB}"/>
              </a:ext>
            </a:extLst>
          </p:cNvPr>
          <p:cNvSpPr txBox="1"/>
          <p:nvPr/>
        </p:nvSpPr>
        <p:spPr>
          <a:xfrm>
            <a:off x="888274" y="4005910"/>
            <a:ext cx="7659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7.4 Millions of $/</a:t>
            </a:r>
            <a:r>
              <a:rPr lang="fr-FR" sz="5400" dirty="0" err="1"/>
              <a:t>Year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1106549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C86A66C7-353A-B5CF-C234-92BDA03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FAFFE5EF-1030-ED36-88ED-BD6D2B706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8406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MONEY TIME </a:t>
            </a:r>
            <a:endParaRPr dirty="0"/>
          </a:p>
        </p:txBody>
      </p:sp>
      <p:sp>
        <p:nvSpPr>
          <p:cNvPr id="167" name="Google Shape;167;p28">
            <a:extLst>
              <a:ext uri="{FF2B5EF4-FFF2-40B4-BE49-F238E27FC236}">
                <a16:creationId xmlns:a16="http://schemas.microsoft.com/office/drawing/2014/main" id="{A7AB82B1-F713-611B-F501-DFE3ABA87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2568"/>
            <a:ext cx="8686800" cy="7058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Automate </a:t>
            </a:r>
            <a:r>
              <a:rPr lang="fr-FR" dirty="0" err="1"/>
              <a:t>Liscence</a:t>
            </a:r>
            <a:r>
              <a:rPr lang="fr-FR" dirty="0"/>
              <a:t> Plate Recognition : 40%-50% of Violations </a:t>
            </a:r>
            <a:r>
              <a:rPr lang="fr-FR" dirty="0" err="1"/>
              <a:t>recovered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EEF59-DEDE-E2E0-4925-60B4BCAFADD6}"/>
              </a:ext>
            </a:extLst>
          </p:cNvPr>
          <p:cNvSpPr txBox="1"/>
          <p:nvPr/>
        </p:nvSpPr>
        <p:spPr>
          <a:xfrm>
            <a:off x="126709" y="1142191"/>
            <a:ext cx="4754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Average</a:t>
            </a:r>
            <a:r>
              <a:rPr lang="fr-FR" dirty="0"/>
              <a:t> $ </a:t>
            </a:r>
            <a:r>
              <a:rPr lang="fr-FR" dirty="0" err="1"/>
              <a:t>recovered</a:t>
            </a:r>
            <a:r>
              <a:rPr lang="fr-FR" dirty="0"/>
              <a:t> per violations:        50$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CFA6E-2286-9D1D-733B-C9650DD5E8B4}"/>
              </a:ext>
            </a:extLst>
          </p:cNvPr>
          <p:cNvSpPr txBox="1"/>
          <p:nvPr/>
        </p:nvSpPr>
        <p:spPr>
          <a:xfrm>
            <a:off x="100584" y="1517904"/>
            <a:ext cx="465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ALPR between 40% and 50% :                40%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CC057A-5EC7-1C7A-002A-9145F09C89FE}"/>
              </a:ext>
            </a:extLst>
          </p:cNvPr>
          <p:cNvSpPr txBox="1"/>
          <p:nvPr/>
        </p:nvSpPr>
        <p:spPr>
          <a:xfrm>
            <a:off x="100583" y="1893617"/>
            <a:ext cx="4340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Average</a:t>
            </a:r>
            <a:r>
              <a:rPr lang="fr-FR" dirty="0"/>
              <a:t> violation  :                          10,000/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B8AED-59BD-0F64-86AC-FCC0518FC78E}"/>
              </a:ext>
            </a:extLst>
          </p:cNvPr>
          <p:cNvSpPr txBox="1"/>
          <p:nvPr/>
        </p:nvSpPr>
        <p:spPr>
          <a:xfrm>
            <a:off x="115824" y="2191512"/>
            <a:ext cx="598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Pourcent of violation </a:t>
            </a:r>
            <a:r>
              <a:rPr lang="fr-FR" dirty="0" err="1"/>
              <a:t>recovered</a:t>
            </a:r>
            <a:r>
              <a:rPr lang="fr-FR" dirty="0"/>
              <a:t> :               10,000 x 40%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60211-483A-9261-43E8-38A6CEA8F2E3}"/>
              </a:ext>
            </a:extLst>
          </p:cNvPr>
          <p:cNvSpPr txBox="1"/>
          <p:nvPr/>
        </p:nvSpPr>
        <p:spPr>
          <a:xfrm>
            <a:off x="115823" y="2546639"/>
            <a:ext cx="6434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                                               4,000 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9CB12-126B-F511-DAC7-C66777B09247}"/>
              </a:ext>
            </a:extLst>
          </p:cNvPr>
          <p:cNvSpPr txBox="1"/>
          <p:nvPr/>
        </p:nvSpPr>
        <p:spPr>
          <a:xfrm>
            <a:off x="1449324" y="3010000"/>
            <a:ext cx="643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4,000 x 50$ = 200,000$/</a:t>
            </a:r>
            <a:r>
              <a:rPr lang="fr-FR" sz="2400" dirty="0" err="1"/>
              <a:t>day</a:t>
            </a:r>
            <a:endParaRPr lang="fr-F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F980F-8B7E-053C-7580-EC999D77D8D2}"/>
              </a:ext>
            </a:extLst>
          </p:cNvPr>
          <p:cNvSpPr txBox="1"/>
          <p:nvPr/>
        </p:nvSpPr>
        <p:spPr>
          <a:xfrm>
            <a:off x="2113788" y="3539644"/>
            <a:ext cx="643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200,000 x 365 = ???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A2225-0C28-4827-C8E1-0419ED54AE46}"/>
              </a:ext>
            </a:extLst>
          </p:cNvPr>
          <p:cNvSpPr txBox="1"/>
          <p:nvPr/>
        </p:nvSpPr>
        <p:spPr>
          <a:xfrm>
            <a:off x="744583" y="4005910"/>
            <a:ext cx="7803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73 Millions of $/</a:t>
            </a:r>
            <a:r>
              <a:rPr lang="fr-FR" sz="5400" dirty="0" err="1"/>
              <a:t>Year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122484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8797CC15-CF5B-8759-54B0-B9048EB0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5E391B13-DC1B-82DC-D5D5-B5E2227C4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8406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MONEY TIME </a:t>
            </a:r>
            <a:endParaRPr dirty="0"/>
          </a:p>
        </p:txBody>
      </p:sp>
      <p:sp>
        <p:nvSpPr>
          <p:cNvPr id="167" name="Google Shape;167;p28">
            <a:extLst>
              <a:ext uri="{FF2B5EF4-FFF2-40B4-BE49-F238E27FC236}">
                <a16:creationId xmlns:a16="http://schemas.microsoft.com/office/drawing/2014/main" id="{F3D5554D-C9B3-DED9-8E65-00742116A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592568"/>
            <a:ext cx="8686800" cy="7058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FR" dirty="0"/>
              <a:t>Dynamic Fine </a:t>
            </a:r>
            <a:r>
              <a:rPr lang="fr-FR" dirty="0" err="1"/>
              <a:t>Escalation</a:t>
            </a:r>
            <a:r>
              <a:rPr lang="fr-FR" dirty="0"/>
              <a:t> : 90% of Violations </a:t>
            </a:r>
            <a:r>
              <a:rPr lang="fr-FR" dirty="0" err="1"/>
              <a:t>recovered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46A9A-C249-5A2E-C1E0-0F963E268F84}"/>
              </a:ext>
            </a:extLst>
          </p:cNvPr>
          <p:cNvSpPr txBox="1"/>
          <p:nvPr/>
        </p:nvSpPr>
        <p:spPr>
          <a:xfrm>
            <a:off x="126709" y="1142191"/>
            <a:ext cx="4754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Average</a:t>
            </a:r>
            <a:r>
              <a:rPr lang="fr-FR" dirty="0"/>
              <a:t> $ </a:t>
            </a:r>
            <a:r>
              <a:rPr lang="fr-FR" dirty="0" err="1"/>
              <a:t>recovered</a:t>
            </a:r>
            <a:r>
              <a:rPr lang="fr-FR" dirty="0"/>
              <a:t> per violations:                     50$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27B7F-CCCF-071D-1D29-FFEB6A6B6910}"/>
              </a:ext>
            </a:extLst>
          </p:cNvPr>
          <p:cNvSpPr txBox="1"/>
          <p:nvPr/>
        </p:nvSpPr>
        <p:spPr>
          <a:xfrm>
            <a:off x="100584" y="1517904"/>
            <a:ext cx="5777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90% of the </a:t>
            </a:r>
            <a:r>
              <a:rPr lang="fr-FR" dirty="0" err="1"/>
              <a:t>rest</a:t>
            </a:r>
            <a:r>
              <a:rPr lang="fr-FR" dirty="0"/>
              <a:t> of the </a:t>
            </a:r>
            <a:r>
              <a:rPr lang="fr-FR" dirty="0" err="1"/>
              <a:t>daily</a:t>
            </a:r>
            <a:r>
              <a:rPr lang="fr-FR" dirty="0"/>
              <a:t> violation :       6,000 x 0.9 = 5,400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E1980-D10C-B889-8FAD-4612AFE804D3}"/>
              </a:ext>
            </a:extLst>
          </p:cNvPr>
          <p:cNvSpPr txBox="1"/>
          <p:nvPr/>
        </p:nvSpPr>
        <p:spPr>
          <a:xfrm>
            <a:off x="100584" y="1999591"/>
            <a:ext cx="5984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Pourcent of violation </a:t>
            </a:r>
            <a:r>
              <a:rPr lang="fr-FR" dirty="0" err="1"/>
              <a:t>recovered</a:t>
            </a:r>
            <a:r>
              <a:rPr lang="fr-FR" dirty="0"/>
              <a:t> :               5,400 x 50$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BD1EF-D1A6-E59C-4F10-9F53743D62BC}"/>
              </a:ext>
            </a:extLst>
          </p:cNvPr>
          <p:cNvSpPr txBox="1"/>
          <p:nvPr/>
        </p:nvSpPr>
        <p:spPr>
          <a:xfrm>
            <a:off x="115823" y="2546639"/>
            <a:ext cx="6434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                                               270,000 $/</a:t>
            </a:r>
            <a:r>
              <a:rPr lang="fr-FR" dirty="0" err="1"/>
              <a:t>day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DEA7F-DBE9-B680-BAF6-921E4314A78A}"/>
              </a:ext>
            </a:extLst>
          </p:cNvPr>
          <p:cNvSpPr txBox="1"/>
          <p:nvPr/>
        </p:nvSpPr>
        <p:spPr>
          <a:xfrm>
            <a:off x="1449324" y="3010000"/>
            <a:ext cx="6434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                270,000$ x 365 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69FE3-3376-1143-5883-8B71455F39AB}"/>
              </a:ext>
            </a:extLst>
          </p:cNvPr>
          <p:cNvSpPr txBox="1"/>
          <p:nvPr/>
        </p:nvSpPr>
        <p:spPr>
          <a:xfrm>
            <a:off x="744583" y="4005910"/>
            <a:ext cx="7803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98,6 Millions of $/</a:t>
            </a:r>
            <a:r>
              <a:rPr lang="fr-FR" sz="5400" dirty="0" err="1"/>
              <a:t>Year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2137498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7C1FFBF6-4BDD-CA68-A905-61268A80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>
            <a:extLst>
              <a:ext uri="{FF2B5EF4-FFF2-40B4-BE49-F238E27FC236}">
                <a16:creationId xmlns:a16="http://schemas.microsoft.com/office/drawing/2014/main" id="{16D838A0-63B0-CF92-EDF0-28452B0C8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84060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003366"/>
                </a:solidFill>
                <a:latin typeface="Arial Black"/>
              </a:rPr>
              <a:t>TOTAL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95F55-39DE-34C3-0B91-882A052EAF13}"/>
              </a:ext>
            </a:extLst>
          </p:cNvPr>
          <p:cNvSpPr txBox="1"/>
          <p:nvPr/>
        </p:nvSpPr>
        <p:spPr>
          <a:xfrm>
            <a:off x="91440" y="151218"/>
            <a:ext cx="85953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             </a:t>
            </a:r>
            <a:r>
              <a:rPr lang="fr-FR" sz="3000" dirty="0"/>
              <a:t>7,4 + 73 + 98,6 =</a:t>
            </a:r>
          </a:p>
          <a:p>
            <a:r>
              <a:rPr lang="fr-FR" sz="3000" dirty="0"/>
              <a:t>            </a:t>
            </a:r>
          </a:p>
          <a:p>
            <a:r>
              <a:rPr lang="fr-FR" sz="3000" dirty="0"/>
              <a:t>                    179 Millions of $/</a:t>
            </a:r>
            <a:r>
              <a:rPr lang="fr-FR" sz="3000" dirty="0" err="1"/>
              <a:t>Year</a:t>
            </a:r>
            <a:endParaRPr lang="fr-FR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E1212-EBE2-437A-DC12-90FBB8ABB902}"/>
              </a:ext>
            </a:extLst>
          </p:cNvPr>
          <p:cNvSpPr txBox="1"/>
          <p:nvPr/>
        </p:nvSpPr>
        <p:spPr>
          <a:xfrm>
            <a:off x="424543" y="2140863"/>
            <a:ext cx="79291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dirty="0" err="1"/>
              <a:t>Cost</a:t>
            </a:r>
            <a:r>
              <a:rPr lang="fr-FR" sz="2500" b="1" dirty="0"/>
              <a:t> of </a:t>
            </a:r>
            <a:r>
              <a:rPr lang="fr-FR" sz="2500" b="1" dirty="0" err="1"/>
              <a:t>Implementaton</a:t>
            </a:r>
            <a:r>
              <a:rPr lang="fr-FR" sz="2500" b="1" dirty="0"/>
              <a:t> = 7 </a:t>
            </a:r>
            <a:r>
              <a:rPr lang="fr-FR" sz="2500" b="1" dirty="0" err="1"/>
              <a:t>facilities</a:t>
            </a:r>
            <a:r>
              <a:rPr lang="fr-FR" sz="2500" b="1" dirty="0"/>
              <a:t> x 4 Millions =                  			28 Millions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60843B-AB00-CB03-708F-97CD25C78233}"/>
              </a:ext>
            </a:extLst>
          </p:cNvPr>
          <p:cNvSpPr txBox="1"/>
          <p:nvPr/>
        </p:nvSpPr>
        <p:spPr>
          <a:xfrm>
            <a:off x="91441" y="3288974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i="1" dirty="0">
                <a:solidFill>
                  <a:srgbClr val="FF0000"/>
                </a:solidFill>
              </a:rPr>
              <a:t>			179 – 28 =                                      	151 Millions of $ </a:t>
            </a:r>
            <a:r>
              <a:rPr lang="fr-FR" sz="4000" b="1" i="1" dirty="0" err="1">
                <a:solidFill>
                  <a:srgbClr val="FF0000"/>
                </a:solidFill>
              </a:rPr>
              <a:t>Recovered</a:t>
            </a:r>
            <a:endParaRPr lang="fr-F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079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C991-1A6C-7127-6AC2-F98172C8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88672"/>
          </a:xfrm>
        </p:spPr>
        <p:txBody>
          <a:bodyPr/>
          <a:lstStyle/>
          <a:p>
            <a:r>
              <a:rPr lang="fr-FR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10856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0812-DCD7-A9A3-C1E3-A49D6A18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LINK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D9308-16EF-5E96-91E4-611FDFDE8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>
                <a:hlinkClick r:id="rId2"/>
              </a:rPr>
              <a:t>https://lookerstudio.google.com/reporting/f7ef7580-3c10-40c1-9b0f-df0d3528b385</a:t>
            </a:r>
            <a:endParaRPr lang="fr-FR"/>
          </a:p>
          <a:p>
            <a:pPr marL="11430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0127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1334</Words>
  <Application>Microsoft Office PowerPoint</Application>
  <PresentationFormat>On-screen Show (16:9)</PresentationFormat>
  <Paragraphs>153</Paragraphs>
  <Slides>24</Slides>
  <Notes>22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Times New Roman</vt:lpstr>
      <vt:lpstr>Simple Light</vt:lpstr>
      <vt:lpstr>The Port Authority of NY and NJ</vt:lpstr>
      <vt:lpstr>Agenda</vt:lpstr>
      <vt:lpstr>Company &amp; Goals</vt:lpstr>
      <vt:lpstr>Predictive models</vt:lpstr>
      <vt:lpstr>More model</vt:lpstr>
      <vt:lpstr>Last Model</vt:lpstr>
      <vt:lpstr>Dashboards Overview</vt:lpstr>
      <vt:lpstr>Q1 : What factors Affect Traffic Usage ? </vt:lpstr>
      <vt:lpstr>Q1 : Recommendations</vt:lpstr>
      <vt:lpstr>Q1 : Recommendations</vt:lpstr>
      <vt:lpstr>Q2 : Where and When Do Toll Violations Occur ?</vt:lpstr>
      <vt:lpstr>Q2 : Recommendations</vt:lpstr>
      <vt:lpstr>Q2 : Recommendations</vt:lpstr>
      <vt:lpstr>Q3 : When are the busiest periods and what influences them ? :</vt:lpstr>
      <vt:lpstr>Q3 : Recommendations</vt:lpstr>
      <vt:lpstr>Q3 : Recommendations</vt:lpstr>
      <vt:lpstr>What is next ? </vt:lpstr>
      <vt:lpstr>   Data + Action  =  Safer Roads, Faster Flow, and Higher Revenue.</vt:lpstr>
      <vt:lpstr>MONEY TIME </vt:lpstr>
      <vt:lpstr>MONEY TIME </vt:lpstr>
      <vt:lpstr>MONEY TIME </vt:lpstr>
      <vt:lpstr>TOTAL</vt:lpstr>
      <vt:lpstr>THANK YOU</vt:lpstr>
      <vt:lpstr>LINK DASHBOARDS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antho</dc:creator>
  <cp:lastModifiedBy>Denis, Anthony Philippe</cp:lastModifiedBy>
  <cp:revision>13</cp:revision>
  <dcterms:modified xsi:type="dcterms:W3CDTF">2025-04-29T20:26:23Z</dcterms:modified>
</cp:coreProperties>
</file>